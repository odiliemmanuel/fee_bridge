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8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194560"/>
            <a:ext cx="105156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600" b="1">
                <a:solidFill>
                  <a:srgbClr val="FFFFFF"/>
                </a:solidFill>
              </a:rPr>
              <a:t>FeeBridge</a:t>
            </a:r>
          </a:p>
          <a:p>
            <a:r>
              <a:rPr sz="2200">
                <a:solidFill>
                  <a:srgbClr val="9FB0E0"/>
                </a:solidFill>
              </a:rPr>
              <a:t>School Fee Payment &amp; Reconciliation Platform — powered by Nomba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2057400"/>
            <a:ext cx="2011680" cy="91440"/>
          </a:xfrm>
          <a:prstGeom prst="rect">
            <a:avLst/>
          </a:prstGeom>
          <a:solidFill>
            <a:srgbClr val="2B5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18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01168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FFFFFF"/>
                </a:solidFill>
              </a:rPr>
              <a:t>The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800">
                <a:solidFill>
                  <a:srgbClr val="0F1830"/>
                </a:solidFill>
              </a:rPr>
              <a:t>• Schools track fees on spreadsheets and paper receipts</a:t>
            </a:r>
          </a:p>
          <a:p>
            <a:pPr>
              <a:spcAft>
                <a:spcPts val="700"/>
              </a:spcAft>
            </a:pPr>
            <a:r>
              <a:rPr sz="1800">
                <a:solidFill>
                  <a:srgbClr val="0F1830"/>
                </a:solidFill>
              </a:rPr>
              <a:t>• Parents pay by cash or ad-hoc bank transfer — hard to attribute</a:t>
            </a:r>
          </a:p>
          <a:p>
            <a:pPr lvl="1">
              <a:spcAft>
                <a:spcPts val="700"/>
              </a:spcAft>
            </a:pPr>
            <a:r>
              <a:rPr sz="1500">
                <a:solidFill>
                  <a:srgbClr val="6B7688"/>
                </a:solidFill>
              </a:rPr>
              <a:t>– Reconciling who paid what is slow and error-prone</a:t>
            </a:r>
          </a:p>
          <a:p>
            <a:pPr>
              <a:spcAft>
                <a:spcPts val="700"/>
              </a:spcAft>
            </a:pPr>
            <a:r>
              <a:rPr sz="1800">
                <a:solidFill>
                  <a:srgbClr val="0F1830"/>
                </a:solidFill>
              </a:rPr>
              <a:t>• No single view of debtors, partial payments, or scholarships</a:t>
            </a:r>
          </a:p>
          <a:p>
            <a:pPr>
              <a:spcAft>
                <a:spcPts val="700"/>
              </a:spcAft>
            </a:pPr>
            <a:r>
              <a:rPr sz="1800">
                <a:solidFill>
                  <a:srgbClr val="0F1830"/>
                </a:solidFill>
              </a:rPr>
              <a:t>• Manual notifications; little to no audit trail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18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01168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FFFFFF"/>
                </a:solidFill>
              </a:rPr>
              <a:t>The Solution — FeeBridge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800">
                <a:solidFill>
                  <a:srgbClr val="0F1830"/>
                </a:solidFill>
              </a:rPr>
              <a:t>• A multi-tenant platform where a school runs its entire fee lifecycle</a:t>
            </a:r>
          </a:p>
          <a:p>
            <a:pPr>
              <a:spcAft>
                <a:spcPts val="700"/>
              </a:spcAft>
            </a:pPr>
            <a:r>
              <a:rPr sz="1800">
                <a:solidFill>
                  <a:srgbClr val="0F1830"/>
                </a:solidFill>
              </a:rPr>
              <a:t>• Define academic structure, classes and fees (day &amp; boarding)</a:t>
            </a:r>
          </a:p>
          <a:p>
            <a:pPr>
              <a:spcAft>
                <a:spcPts val="700"/>
              </a:spcAft>
            </a:pPr>
            <a:r>
              <a:rPr sz="1800">
                <a:solidFill>
                  <a:srgbClr val="0F1830"/>
                </a:solidFill>
              </a:rPr>
              <a:t>• Register students, parents/guardians and sponsors</a:t>
            </a:r>
          </a:p>
          <a:p>
            <a:pPr>
              <a:spcAft>
                <a:spcPts val="700"/>
              </a:spcAft>
            </a:pPr>
            <a:r>
              <a:rPr sz="1800">
                <a:solidFill>
                  <a:srgbClr val="0F1830"/>
                </a:solidFill>
              </a:rPr>
              <a:t>• Collect fees online via Nomba, or record cash — all reconciled automatically</a:t>
            </a:r>
          </a:p>
          <a:p>
            <a:pPr>
              <a:spcAft>
                <a:spcPts val="700"/>
              </a:spcAft>
            </a:pPr>
            <a:r>
              <a:rPr sz="1800">
                <a:solidFill>
                  <a:srgbClr val="0F1830"/>
                </a:solidFill>
              </a:rPr>
              <a:t>• Live analytics, filtered lists, downloads, notifications and a full audit log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18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01168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FFFFFF"/>
                </a:solidFill>
              </a:rPr>
              <a:t>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800">
                <a:solidFill>
                  <a:srgbClr val="0F1830"/>
                </a:solidFill>
              </a:rPr>
              <a:t>• React + TypeScript SPA (admin &amp; parent portals)</a:t>
            </a:r>
          </a:p>
          <a:p>
            <a:pPr>
              <a:spcAft>
                <a:spcPts val="700"/>
              </a:spcAft>
            </a:pPr>
            <a:r>
              <a:rPr sz="1800">
                <a:solidFill>
                  <a:srgbClr val="0F1830"/>
                </a:solidFill>
              </a:rPr>
              <a:t>• Spring Boot 3 (Java 21) modular backend, JWT-secured, multi-tenant</a:t>
            </a:r>
          </a:p>
          <a:p>
            <a:pPr>
              <a:spcAft>
                <a:spcPts val="700"/>
              </a:spcAft>
            </a:pPr>
            <a:r>
              <a:rPr sz="1800">
                <a:solidFill>
                  <a:srgbClr val="0F1830"/>
                </a:solidFill>
              </a:rPr>
              <a:t>• PostgreSQL with Flyway migrations; money stored as exact integer kobo</a:t>
            </a:r>
          </a:p>
          <a:p>
            <a:pPr>
              <a:spcAft>
                <a:spcPts val="700"/>
              </a:spcAft>
            </a:pPr>
            <a:r>
              <a:rPr sz="1800">
                <a:solidFill>
                  <a:srgbClr val="0F1830"/>
                </a:solidFill>
              </a:rPr>
              <a:t>• Nomba dynamic virtual accounts + HMAC-signed webhooks</a:t>
            </a:r>
          </a:p>
          <a:p>
            <a:pPr>
              <a:spcAft>
                <a:spcPts val="700"/>
              </a:spcAft>
            </a:pPr>
            <a:r>
              <a:rPr sz="1800">
                <a:solidFill>
                  <a:srgbClr val="0F1830"/>
                </a:solidFill>
              </a:rPr>
              <a:t>• Email (SMTP) + pluggable SMS; CSV/Excel/PDF exports</a:t>
            </a:r>
          </a:p>
          <a:p>
            <a:pPr>
              <a:spcAft>
                <a:spcPts val="700"/>
              </a:spcAft>
            </a:pPr>
            <a:r>
              <a:rPr sz="1800">
                <a:solidFill>
                  <a:srgbClr val="0F1830"/>
                </a:solidFill>
              </a:rPr>
              <a:t>• Docker Compose: postgres · mailhog · backend · frontend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18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01168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FFFFFF"/>
                </a:solidFill>
              </a:rPr>
              <a:t>Core Features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800">
                <a:solidFill>
                  <a:srgbClr val="0F1830"/>
                </a:solidFill>
              </a:rPr>
              <a:t>• Fees per class × session × term × residency, with change history</a:t>
            </a:r>
          </a:p>
          <a:p>
            <a:pPr>
              <a:spcAft>
                <a:spcPts val="700"/>
              </a:spcAft>
            </a:pPr>
            <a:r>
              <a:rPr sz="1800">
                <a:solidFill>
                  <a:srgbClr val="0F1830"/>
                </a:solidFill>
              </a:rPr>
              <a:t>• Scholarships — percentage or fixed amount, per student</a:t>
            </a:r>
          </a:p>
          <a:p>
            <a:pPr>
              <a:spcAft>
                <a:spcPts val="700"/>
              </a:spcAft>
            </a:pPr>
            <a:r>
              <a:rPr sz="1800">
                <a:solidFill>
                  <a:srgbClr val="0F1830"/>
                </a:solidFill>
              </a:rPr>
              <a:t>• Full / partial / over-payment; overpayment carries to next term</a:t>
            </a:r>
          </a:p>
          <a:p>
            <a:pPr>
              <a:spcAft>
                <a:spcPts val="700"/>
              </a:spcAft>
            </a:pPr>
            <a:r>
              <a:rPr sz="1800">
                <a:solidFill>
                  <a:srgbClr val="0F1830"/>
                </a:solidFill>
              </a:rPr>
              <a:t>• Pay for multiple children in one transaction</a:t>
            </a:r>
          </a:p>
          <a:p>
            <a:pPr>
              <a:spcAft>
                <a:spcPts val="700"/>
              </a:spcAft>
            </a:pPr>
            <a:r>
              <a:rPr sz="1800">
                <a:solidFill>
                  <a:srgbClr val="0F1830"/>
                </a:solidFill>
              </a:rPr>
              <a:t>• Filter by status (pending/partial/complete/overpayment) and class</a:t>
            </a:r>
          </a:p>
          <a:p>
            <a:pPr>
              <a:spcAft>
                <a:spcPts val="700"/>
              </a:spcAft>
            </a:pPr>
            <a:r>
              <a:rPr sz="1800">
                <a:solidFill>
                  <a:srgbClr val="0F1830"/>
                </a:solidFill>
              </a:rPr>
              <a:t>• Student search; downloadable lists; analytics dashboard</a:t>
            </a:r>
          </a:p>
          <a:p>
            <a:pPr>
              <a:spcAft>
                <a:spcPts val="700"/>
              </a:spcAft>
            </a:pPr>
            <a:r>
              <a:rPr sz="1800">
                <a:solidFill>
                  <a:srgbClr val="0F1830"/>
                </a:solidFill>
              </a:rPr>
              <a:t>• Offline cash payments with SMS + email alerts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18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01168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FFFFFF"/>
                </a:solidFill>
              </a:rPr>
              <a:t>The Nomba Payment 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800">
                <a:solidFill>
                  <a:srgbClr val="0F1830"/>
                </a:solidFill>
              </a:rPr>
              <a:t>• Parent selects children and amounts → backend creates a payment order</a:t>
            </a:r>
          </a:p>
          <a:p>
            <a:pPr lvl="1">
              <a:spcAft>
                <a:spcPts val="700"/>
              </a:spcAft>
            </a:pPr>
            <a:r>
              <a:rPr sz="1500">
                <a:solidFill>
                  <a:srgbClr val="6B7688"/>
                </a:solidFill>
              </a:rPr>
              <a:t>– A dedicated Nomba dynamic virtual account is minted for the order</a:t>
            </a:r>
          </a:p>
          <a:p>
            <a:pPr>
              <a:spcAft>
                <a:spcPts val="700"/>
              </a:spcAft>
            </a:pPr>
            <a:r>
              <a:rPr sz="1800">
                <a:solidFill>
                  <a:srgbClr val="0F1830"/>
                </a:solidFill>
              </a:rPr>
              <a:t>• Parent transfers to that account number</a:t>
            </a:r>
          </a:p>
          <a:p>
            <a:pPr lvl="1">
              <a:spcAft>
                <a:spcPts val="700"/>
              </a:spcAft>
            </a:pPr>
            <a:r>
              <a:rPr sz="1500">
                <a:solidFill>
                  <a:srgbClr val="6B7688"/>
                </a:solidFill>
              </a:rPr>
              <a:t>– Nomba sends a signed webhook → HMAC verified, idempotent</a:t>
            </a:r>
          </a:p>
          <a:p>
            <a:pPr>
              <a:spcAft>
                <a:spcPts val="700"/>
              </a:spcAft>
            </a:pPr>
            <a:r>
              <a:rPr sz="1800">
                <a:solidFill>
                  <a:srgbClr val="0F1830"/>
                </a:solidFill>
              </a:rPr>
              <a:t>• Payment matched to the order and applied across children</a:t>
            </a:r>
          </a:p>
          <a:p>
            <a:pPr>
              <a:spcAft>
                <a:spcPts val="700"/>
              </a:spcAft>
            </a:pPr>
            <a:r>
              <a:rPr sz="1800">
                <a:solidFill>
                  <a:srgbClr val="0F1830"/>
                </a:solidFill>
              </a:rPr>
              <a:t>• Ledger verified, parent notified by SMS + email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18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01168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FFFFFF"/>
                </a:solidFill>
              </a:rPr>
              <a:t>Money &amp; Reconciliation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800">
                <a:solidFill>
                  <a:srgbClr val="0F1830"/>
                </a:solidFill>
              </a:rPr>
              <a:t>• All amounts are exact integer minor units (kobo) — no floating point</a:t>
            </a:r>
          </a:p>
          <a:p>
            <a:pPr>
              <a:spcAft>
                <a:spcPts val="700"/>
              </a:spcAft>
            </a:pPr>
            <a:r>
              <a:rPr sz="1800">
                <a:solidFill>
                  <a:srgbClr val="0F1830"/>
                </a:solidFill>
              </a:rPr>
              <a:t>• Append-only ledger per student is the source of truth</a:t>
            </a:r>
          </a:p>
          <a:p>
            <a:pPr lvl="1">
              <a:spcAft>
                <a:spcPts val="700"/>
              </a:spcAft>
            </a:pPr>
            <a:r>
              <a:rPr sz="1500">
                <a:solidFill>
                  <a:srgbClr val="6B7688"/>
                </a:solidFill>
              </a:rPr>
              <a:t>– Invariant: invoice balance == sum of its ledger entries</a:t>
            </a:r>
          </a:p>
          <a:p>
            <a:pPr>
              <a:spcAft>
                <a:spcPts val="700"/>
              </a:spcAft>
            </a:pPr>
            <a:r>
              <a:rPr sz="1800">
                <a:solidFill>
                  <a:srgbClr val="0F1830"/>
                </a:solidFill>
              </a:rPr>
              <a:t>• 'Verify with balance' runs after every payment</a:t>
            </a:r>
          </a:p>
          <a:p>
            <a:pPr>
              <a:spcAft>
                <a:spcPts val="700"/>
              </a:spcAft>
            </a:pPr>
            <a:r>
              <a:rPr sz="1800">
                <a:solidFill>
                  <a:srgbClr val="0F1830"/>
                </a:solidFill>
              </a:rPr>
              <a:t>• Unmatched Nomba credits become reconciliation exceptions</a:t>
            </a:r>
          </a:p>
          <a:p>
            <a:pPr>
              <a:spcAft>
                <a:spcPts val="700"/>
              </a:spcAft>
            </a:pPr>
            <a:r>
              <a:rPr sz="1800">
                <a:solidFill>
                  <a:srgbClr val="0F1830"/>
                </a:solidFill>
              </a:rPr>
              <a:t>• Scheduled reconciliation sweep + on-demand ledger verification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18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01168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FFFFFF"/>
                </a:solidFill>
              </a:rPr>
              <a:t>Security &amp; Multi-tenancy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800">
                <a:solidFill>
                  <a:srgbClr val="0F1830"/>
                </a:solidFill>
              </a:rPr>
              <a:t>• Every record scoped by school_id; tenants fully isolated</a:t>
            </a:r>
          </a:p>
          <a:p>
            <a:pPr>
              <a:spcAft>
                <a:spcPts val="700"/>
              </a:spcAft>
            </a:pPr>
            <a:r>
              <a:rPr sz="1800">
                <a:solidFill>
                  <a:srgbClr val="0F1830"/>
                </a:solidFill>
              </a:rPr>
              <a:t>• JWT bearer auth; role-based access (Admin, Bursar, Parent, Guardian)</a:t>
            </a:r>
          </a:p>
          <a:p>
            <a:pPr>
              <a:spcAft>
                <a:spcPts val="700"/>
              </a:spcAft>
            </a:pPr>
            <a:r>
              <a:rPr sz="1800">
                <a:solidFill>
                  <a:srgbClr val="0F1830"/>
                </a:solidFill>
              </a:rPr>
              <a:t>• Webhook endpoint public but HMAC-verified and idempotent</a:t>
            </a:r>
          </a:p>
          <a:p>
            <a:pPr>
              <a:spcAft>
                <a:spcPts val="700"/>
              </a:spcAft>
            </a:pPr>
            <a:r>
              <a:rPr sz="1800">
                <a:solidFill>
                  <a:srgbClr val="0F1830"/>
                </a:solidFill>
              </a:rPr>
              <a:t>• BCrypt passwords; input validation; secrets via environment</a:t>
            </a:r>
          </a:p>
          <a:p>
            <a:pPr>
              <a:spcAft>
                <a:spcPts val="700"/>
              </a:spcAft>
            </a:pPr>
            <a:r>
              <a:rPr sz="1800">
                <a:solidFill>
                  <a:srgbClr val="0F1830"/>
                </a:solidFill>
              </a:rPr>
              <a:t>• Audit log records every state-changing action — who, what, when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18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01168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FFFFFF"/>
                </a:solidFill>
              </a:rPr>
              <a:t>Roles &amp; Portals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800">
                <a:solidFill>
                  <a:srgbClr val="0F1830"/>
                </a:solidFill>
              </a:rPr>
              <a:t>• School Admin / Bursar: dashboard, students, fees, invoices, payments</a:t>
            </a:r>
          </a:p>
          <a:p>
            <a:pPr lvl="1">
              <a:spcAft>
                <a:spcPts val="700"/>
              </a:spcAft>
            </a:pPr>
            <a:r>
              <a:rPr sz="1500">
                <a:solidFill>
                  <a:srgbClr val="6B7688"/>
                </a:solidFill>
              </a:rPr>
              <a:t>– Reconciliation, downloads, notifications and audit</a:t>
            </a:r>
          </a:p>
          <a:p>
            <a:pPr>
              <a:spcAft>
                <a:spcPts val="700"/>
              </a:spcAft>
            </a:pPr>
            <a:r>
              <a:rPr sz="1800">
                <a:solidFill>
                  <a:srgbClr val="0F1830"/>
                </a:solidFill>
              </a:rPr>
              <a:t>• Parent / Guardian: children &amp; balances, multi-child pay, receipts</a:t>
            </a:r>
          </a:p>
          <a:p>
            <a:pPr>
              <a:spcAft>
                <a:spcPts val="700"/>
              </a:spcAft>
            </a:pPr>
            <a:r>
              <a:rPr sz="1800">
                <a:solidFill>
                  <a:srgbClr val="0F1830"/>
                </a:solidFill>
              </a:rPr>
              <a:t>• Delegated sponsor / NGO can pay on a student's behalf</a:t>
            </a:r>
          </a:p>
          <a:p>
            <a:pPr>
              <a:spcAft>
                <a:spcPts val="700"/>
              </a:spcAft>
            </a:pPr>
            <a:r>
              <a:rPr sz="1800">
                <a:solidFill>
                  <a:srgbClr val="0F1830"/>
                </a:solidFill>
              </a:rPr>
              <a:t>• Student: fee status and transaction history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18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01168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FFFFFF"/>
                </a:solidFill>
              </a:rPr>
              <a:t>Roadmap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800">
                <a:solidFill>
                  <a:srgbClr val="0F1830"/>
                </a:solidFill>
              </a:rPr>
              <a:t>• Nomba card checkout + scheduled transaction pull</a:t>
            </a:r>
          </a:p>
          <a:p>
            <a:pPr>
              <a:spcAft>
                <a:spcPts val="700"/>
              </a:spcAft>
            </a:pPr>
            <a:r>
              <a:rPr sz="1800">
                <a:solidFill>
                  <a:srgbClr val="0F1830"/>
                </a:solidFill>
              </a:rPr>
              <a:t>• Payment plans, penalties, and fee line-items</a:t>
            </a:r>
          </a:p>
          <a:p>
            <a:pPr>
              <a:spcAft>
                <a:spcPts val="700"/>
              </a:spcAft>
            </a:pPr>
            <a:r>
              <a:rPr sz="1800">
                <a:solidFill>
                  <a:srgbClr val="0F1830"/>
                </a:solidFill>
              </a:rPr>
              <a:t>• Scheduled reminders (SMS/email/WhatsApp) and a parent mobile app</a:t>
            </a:r>
          </a:p>
          <a:p>
            <a:pPr>
              <a:spcAft>
                <a:spcPts val="700"/>
              </a:spcAft>
            </a:pPr>
            <a:r>
              <a:rPr sz="1800">
                <a:solidFill>
                  <a:srgbClr val="0F1830"/>
                </a:solidFill>
              </a:rPr>
              <a:t>• Refresh tokens, MFA, granular permissions</a:t>
            </a:r>
          </a:p>
          <a:p>
            <a:pPr>
              <a:spcAft>
                <a:spcPts val="700"/>
              </a:spcAft>
            </a:pPr>
            <a:r>
              <a:rPr sz="1800">
                <a:solidFill>
                  <a:srgbClr val="0F1830"/>
                </a:solidFill>
              </a:rPr>
              <a:t>• Debtor-ageing and term-on-term trend analytics</a:t>
            </a:r>
          </a:p>
          <a:p>
            <a:pPr>
              <a:spcAft>
                <a:spcPts val="700"/>
              </a:spcAft>
            </a:pPr>
            <a:r>
              <a:rPr sz="1800">
                <a:solidFill>
                  <a:srgbClr val="0F1830"/>
                </a:solidFill>
              </a:rPr>
              <a:t>• Platform-admin console and bulk CSV import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18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01168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FFFFFF"/>
                </a:solidFill>
              </a:rPr>
              <a:t>Demo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800">
                <a:solidFill>
                  <a:srgbClr val="0F1830"/>
                </a:solidFill>
              </a:rPr>
              <a:t>• docker compose up  → SPA on :5173, API on :8080</a:t>
            </a:r>
          </a:p>
          <a:p>
            <a:pPr>
              <a:spcAft>
                <a:spcPts val="700"/>
              </a:spcAft>
            </a:pPr>
            <a:r>
              <a:rPr sz="1800">
                <a:solidFill>
                  <a:srgbClr val="0F1830"/>
                </a:solidFill>
              </a:rPr>
              <a:t>• School admin — admin@greenfield.edu.ng / password123</a:t>
            </a:r>
          </a:p>
          <a:p>
            <a:pPr>
              <a:spcAft>
                <a:spcPts val="700"/>
              </a:spcAft>
            </a:pPr>
            <a:r>
              <a:rPr sz="1800">
                <a:solidFill>
                  <a:srgbClr val="0F1830"/>
                </a:solidFill>
              </a:rPr>
              <a:t>• Parent — obi@example.com / password123</a:t>
            </a:r>
          </a:p>
          <a:p>
            <a:pPr>
              <a:spcAft>
                <a:spcPts val="700"/>
              </a:spcAft>
            </a:pPr>
            <a:r>
              <a:rPr sz="1800">
                <a:solidFill>
                  <a:srgbClr val="0F1830"/>
                </a:solidFill>
              </a:rPr>
              <a:t>• Thank you.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